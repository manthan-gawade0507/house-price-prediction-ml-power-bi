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80792C-C0B0-44FD-9154-9406113B31E5}" v="7" dt="2026-03-27T11:00:17.7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THAN GAWADE" userId="30e3f1adc2ae2d6f" providerId="LiveId" clId="{DC1F8E63-22F0-41D4-BC23-95048BD64B13}"/>
    <pc:docChg chg="modSld">
      <pc:chgData name="MANTHAN GAWADE" userId="30e3f1adc2ae2d6f" providerId="LiveId" clId="{DC1F8E63-22F0-41D4-BC23-95048BD64B13}" dt="2026-03-27T11:00:30.277" v="31" actId="1035"/>
      <pc:docMkLst>
        <pc:docMk/>
      </pc:docMkLst>
      <pc:sldChg chg="modSp mod">
        <pc:chgData name="MANTHAN GAWADE" userId="30e3f1adc2ae2d6f" providerId="LiveId" clId="{DC1F8E63-22F0-41D4-BC23-95048BD64B13}" dt="2026-03-27T11:00:17.701" v="27"/>
        <pc:sldMkLst>
          <pc:docMk/>
          <pc:sldMk cId="4242876222" sldId="264"/>
        </pc:sldMkLst>
        <pc:graphicFrameChg chg="mod modGraphic">
          <ac:chgData name="MANTHAN GAWADE" userId="30e3f1adc2ae2d6f" providerId="LiveId" clId="{DC1F8E63-22F0-41D4-BC23-95048BD64B13}" dt="2026-03-27T11:00:17.701" v="27"/>
          <ac:graphicFrameMkLst>
            <pc:docMk/>
            <pc:sldMk cId="4242876222" sldId="264"/>
            <ac:graphicFrameMk id="4" creationId="{791BDCA7-09BE-1765-0594-18D0B0E5E26B}"/>
          </ac:graphicFrameMkLst>
        </pc:graphicFrameChg>
      </pc:sldChg>
      <pc:sldChg chg="modSp mod">
        <pc:chgData name="MANTHAN GAWADE" userId="30e3f1adc2ae2d6f" providerId="LiveId" clId="{DC1F8E63-22F0-41D4-BC23-95048BD64B13}" dt="2026-03-27T11:00:30.277" v="31" actId="1035"/>
        <pc:sldMkLst>
          <pc:docMk/>
          <pc:sldMk cId="3370792006" sldId="268"/>
        </pc:sldMkLst>
        <pc:picChg chg="mod">
          <ac:chgData name="MANTHAN GAWADE" userId="30e3f1adc2ae2d6f" providerId="LiveId" clId="{DC1F8E63-22F0-41D4-BC23-95048BD64B13}" dt="2026-03-27T11:00:30.277" v="31" actId="1035"/>
          <ac:picMkLst>
            <pc:docMk/>
            <pc:sldMk cId="3370792006" sldId="268"/>
            <ac:picMk id="5" creationId="{2500BCB3-8C9F-2AC8-9820-0F347CFA28F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C3153-E07B-4DE7-83F1-C12B90305BD6}" type="datetimeFigureOut">
              <a:rPr lang="en-IN" smtClean="0"/>
              <a:t>26-03-2026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E4AC9-C600-4E63-AE66-86559704432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9544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C3153-E07B-4DE7-83F1-C12B90305BD6}" type="datetimeFigureOut">
              <a:rPr lang="en-IN" smtClean="0"/>
              <a:t>26-03-2026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E4AC9-C600-4E63-AE66-86559704432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9229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C3153-E07B-4DE7-83F1-C12B90305BD6}" type="datetimeFigureOut">
              <a:rPr lang="en-IN" smtClean="0"/>
              <a:t>26-03-2026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E4AC9-C600-4E63-AE66-86559704432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843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C3153-E07B-4DE7-83F1-C12B90305BD6}" type="datetimeFigureOut">
              <a:rPr lang="en-IN" smtClean="0"/>
              <a:t>26-03-2026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E4AC9-C600-4E63-AE66-86559704432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1883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C3153-E07B-4DE7-83F1-C12B90305BD6}" type="datetimeFigureOut">
              <a:rPr lang="en-IN" smtClean="0"/>
              <a:t>26-03-2026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E4AC9-C600-4E63-AE66-86559704432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7705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C3153-E07B-4DE7-83F1-C12B90305BD6}" type="datetimeFigureOut">
              <a:rPr lang="en-IN" smtClean="0"/>
              <a:t>26-03-2026</a:t>
            </a:fld>
            <a:endParaRPr lang="en-IN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E4AC9-C600-4E63-AE66-86559704432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1029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C3153-E07B-4DE7-83F1-C12B90305BD6}" type="datetimeFigureOut">
              <a:rPr lang="en-IN" smtClean="0"/>
              <a:t>26-03-2026</a:t>
            </a:fld>
            <a:endParaRPr lang="en-IN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E4AC9-C600-4E63-AE66-86559704432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2368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C3153-E07B-4DE7-83F1-C12B90305BD6}" type="datetimeFigureOut">
              <a:rPr lang="en-IN" smtClean="0"/>
              <a:t>26-03-2026</a:t>
            </a:fld>
            <a:endParaRPr lang="en-IN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E4AC9-C600-4E63-AE66-86559704432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3695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C3153-E07B-4DE7-83F1-C12B90305BD6}" type="datetimeFigureOut">
              <a:rPr lang="en-IN" smtClean="0"/>
              <a:t>26-03-2026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E4AC9-C600-4E63-AE66-86559704432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2027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C3153-E07B-4DE7-83F1-C12B90305BD6}" type="datetimeFigureOut">
              <a:rPr lang="en-IN" smtClean="0"/>
              <a:t>26-03-2026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E4AC9-C600-4E63-AE66-86559704432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7529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C3153-E07B-4DE7-83F1-C12B90305BD6}" type="datetimeFigureOut">
              <a:rPr lang="en-IN" smtClean="0"/>
              <a:t>26-03-2026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E4AC9-C600-4E63-AE66-86559704432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64415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C3153-E07B-4DE7-83F1-C12B90305BD6}" type="datetimeFigureOut">
              <a:rPr lang="en-IN" smtClean="0"/>
              <a:t>26-03-2026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E4AC9-C600-4E63-AE66-86559704432B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211156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C3153-E07B-4DE7-83F1-C12B90305BD6}" type="datetimeFigureOut">
              <a:rPr lang="en-IN" smtClean="0"/>
              <a:t>26-03-2026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E4AC9-C600-4E63-AE66-86559704432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58849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C3153-E07B-4DE7-83F1-C12B90305BD6}" type="datetimeFigureOut">
              <a:rPr lang="en-IN" smtClean="0"/>
              <a:t>26-03-2026</a:t>
            </a:fld>
            <a:endParaRPr lang="en-IN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E4AC9-C600-4E63-AE66-86559704432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66958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C3153-E07B-4DE7-83F1-C12B90305BD6}" type="datetimeFigureOut">
              <a:rPr lang="en-IN" smtClean="0"/>
              <a:t>26-03-2026</a:t>
            </a:fld>
            <a:endParaRPr lang="en-IN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E4AC9-C600-4E63-AE66-86559704432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68786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C3153-E07B-4DE7-83F1-C12B90305BD6}" type="datetimeFigureOut">
              <a:rPr lang="en-IN" smtClean="0"/>
              <a:t>26-03-2026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E4AC9-C600-4E63-AE66-86559704432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22688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C3153-E07B-4DE7-83F1-C12B90305BD6}" type="datetimeFigureOut">
              <a:rPr lang="en-IN" smtClean="0"/>
              <a:t>26-03-2026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E4AC9-C600-4E63-AE66-86559704432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6733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2FC3153-E07B-4DE7-83F1-C12B90305BD6}" type="datetimeFigureOut">
              <a:rPr lang="en-IN" smtClean="0"/>
              <a:t>26-03-2026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2E4AC9-C600-4E63-AE66-86559704432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06765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F06F1-BD92-E9D0-C0F4-E818CB78E6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1548" y="2241755"/>
            <a:ext cx="10825316" cy="1052051"/>
          </a:xfrm>
        </p:spPr>
        <p:txBody>
          <a:bodyPr>
            <a:normAutofit/>
          </a:bodyPr>
          <a:lstStyle/>
          <a:p>
            <a:r>
              <a:rPr lang="en-IN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Estate Price Prediction</a:t>
            </a:r>
          </a:p>
        </p:txBody>
      </p:sp>
    </p:spTree>
    <p:extLst>
      <p:ext uri="{BB962C8B-B14F-4D97-AF65-F5344CB8AC3E}">
        <p14:creationId xmlns:p14="http://schemas.microsoft.com/office/powerpoint/2010/main" val="1766391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5E9EB-9926-0FAA-7F18-F70E8C1E1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072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D101CE-B76E-E761-41E5-C9BB2FB9861E}"/>
              </a:ext>
            </a:extLst>
          </p:cNvPr>
          <p:cNvSpPr txBox="1"/>
          <p:nvPr/>
        </p:nvSpPr>
        <p:spPr>
          <a:xfrm>
            <a:off x="659990" y="1219201"/>
            <a:ext cx="10872019" cy="6601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real estate market involves multiple factors such as location, house size, number of bedrooms, and amenities, making property price estimation complex and often inaccurate.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Buyers struggle to determine fair prices, while sellers and investors lack data-driven insights for decision-making.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This project aims to analyze housing data and develop a machine learning model to accurately predict house prices, along with an interactive Power BI dashboard to uncover key market trends and insights.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algn="just">
              <a:lnSpc>
                <a:spcPct val="150000"/>
              </a:lnSpc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5361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72F90-BE7A-6875-08E0-6014B5A71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6011E-BD75-596A-613F-9C9CADCC00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The dataset contains detailed information about residential house properties.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It consists of numerical and categorical variables.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In given dataset there is 21613 rows and 21 features.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Most of the features in the dataset are numerical, supported by limited categorical variables.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It includes features related to price, location, size, and house characteristics.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Each record represents a single house sale transaction.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369604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AC9A2-FC3C-1C86-12DA-CAFB94846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474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F66AE-4E11-1AEA-0DAA-848C82ADC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6014"/>
            <a:ext cx="10515600" cy="463329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Created Total House Area by combining living area and basement area to better represent the overall usable space.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Applied Target Encoding on Zipcode by converting it into average price, enabling the model to understand location impact effectively.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Converted Year Renovated into a binary feature (Renovated: Yes/No) to simplify its influence on price.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Removed highly correlated features (sqft_living15, sqft_lot15) to reduce redundancy and improve model performance.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Created House Age feature using the year built to capture the effect of property age on pricing.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Extracted Sale Year from the date column to make time-based analysis meaningful.</a:t>
            </a:r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14811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33425-6E20-8F27-2844-88E495532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265905"/>
            <a:ext cx="9404723" cy="727153"/>
          </a:xfrm>
        </p:spPr>
        <p:txBody>
          <a:bodyPr/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927ED9E-17D6-F541-91FB-0F01A5D805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09" y="1183661"/>
            <a:ext cx="4633813" cy="2180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E959D0-F69C-1985-DCBD-88675900FF09}"/>
              </a:ext>
            </a:extLst>
          </p:cNvPr>
          <p:cNvSpPr txBox="1"/>
          <p:nvPr/>
        </p:nvSpPr>
        <p:spPr>
          <a:xfrm>
            <a:off x="646109" y="3494037"/>
            <a:ext cx="463381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dirty="0"/>
              <a:t>The scatter plot shows a positive relationship between total house area and price, indicating that larger houses generally have higher prices, though there is some variation and outliers.</a:t>
            </a:r>
            <a:endParaRPr lang="en-IN" sz="1200" dirty="0"/>
          </a:p>
        </p:txBody>
      </p:sp>
      <p:pic>
        <p:nvPicPr>
          <p:cNvPr id="3079" name="Picture 7">
            <a:extLst>
              <a:ext uri="{FF2B5EF4-FFF2-40B4-BE49-F238E27FC236}">
                <a16:creationId xmlns:a16="http://schemas.microsoft.com/office/drawing/2014/main" id="{2F7293B4-9302-CBAB-2749-5EFAC3447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5967" y="1183662"/>
            <a:ext cx="4633813" cy="2180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8188-97B4-0162-8FF4-508885A528BE}"/>
              </a:ext>
            </a:extLst>
          </p:cNvPr>
          <p:cNvSpPr txBox="1"/>
          <p:nvPr/>
        </p:nvSpPr>
        <p:spPr>
          <a:xfrm>
            <a:off x="6483650" y="3429000"/>
            <a:ext cx="46661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dirty="0"/>
              <a:t>The chart shows that house prices generally increase with the number of bedrooms, but the relationship is not very strong, with many outliers and overlapping price ranges across different bedrooms</a:t>
            </a:r>
            <a:endParaRPr lang="en-IN" sz="1200" dirty="0"/>
          </a:p>
        </p:txBody>
      </p:sp>
      <p:pic>
        <p:nvPicPr>
          <p:cNvPr id="3083" name="Picture 11">
            <a:extLst>
              <a:ext uri="{FF2B5EF4-FFF2-40B4-BE49-F238E27FC236}">
                <a16:creationId xmlns:a16="http://schemas.microsoft.com/office/drawing/2014/main" id="{5D5FA31F-003C-6478-016E-9FFBE5390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3278" y="4360573"/>
            <a:ext cx="4939173" cy="150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5EAC31C-427D-E981-93F3-942377C1AFB6}"/>
              </a:ext>
            </a:extLst>
          </p:cNvPr>
          <p:cNvSpPr txBox="1"/>
          <p:nvPr/>
        </p:nvSpPr>
        <p:spPr>
          <a:xfrm>
            <a:off x="3123278" y="5966868"/>
            <a:ext cx="50178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dirty="0"/>
              <a:t>House prices generally increase with the number of bathrooms, especially after 4 bathrooms, indicating higher-value luxury properties.</a:t>
            </a:r>
          </a:p>
        </p:txBody>
      </p:sp>
    </p:spTree>
    <p:extLst>
      <p:ext uri="{BB962C8B-B14F-4D97-AF65-F5344CB8AC3E}">
        <p14:creationId xmlns:p14="http://schemas.microsoft.com/office/powerpoint/2010/main" val="3226928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ADBA9-A674-57AC-A60A-465F29FD8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343" y="304785"/>
            <a:ext cx="9404723" cy="943463"/>
          </a:xfrm>
        </p:spPr>
        <p:txBody>
          <a:bodyPr/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  <a:endParaRPr lang="en-IN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A9EB718-73C7-C2B5-2C02-826D421C1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223" y="1265904"/>
            <a:ext cx="4300076" cy="2163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3FC0CC4-149A-85B1-F0F9-2A597242D198}"/>
              </a:ext>
            </a:extLst>
          </p:cNvPr>
          <p:cNvSpPr txBox="1"/>
          <p:nvPr/>
        </p:nvSpPr>
        <p:spPr>
          <a:xfrm>
            <a:off x="607343" y="3579393"/>
            <a:ext cx="43978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dirty="0"/>
              <a:t>House prices slightly increase with better condition, but the impact is moderate and less significant compared to other factors.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407BA9A0-130F-D979-F257-2C5E23F937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8063" y="1265904"/>
            <a:ext cx="4810792" cy="2163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1893A52-EF0F-94F3-2732-8E1C10C9CB2C}"/>
              </a:ext>
            </a:extLst>
          </p:cNvPr>
          <p:cNvSpPr txBox="1"/>
          <p:nvPr/>
        </p:nvSpPr>
        <p:spPr>
          <a:xfrm>
            <a:off x="6268063" y="3504197"/>
            <a:ext cx="4980039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200" dirty="0"/>
              <a:t>The median price for waterfront homes is much higher.</a:t>
            </a:r>
          </a:p>
          <a:p>
            <a:pPr>
              <a:lnSpc>
                <a:spcPts val="1425"/>
              </a:lnSpc>
            </a:pPr>
            <a:r>
              <a:rPr lang="en-US" sz="1200" dirty="0"/>
              <a:t>Waterfront properties also show greater price variation.</a:t>
            </a:r>
          </a:p>
          <a:p>
            <a:pPr>
              <a:lnSpc>
                <a:spcPts val="1425"/>
              </a:lnSpc>
            </a:pPr>
            <a:r>
              <a:rPr lang="en-US" sz="1200" dirty="0"/>
              <a:t>Overall, having a waterfront strongly increases house price.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04AEBE-D761-5A76-EAD9-66402570BB3E}"/>
              </a:ext>
            </a:extLst>
          </p:cNvPr>
          <p:cNvSpPr txBox="1"/>
          <p:nvPr/>
        </p:nvSpPr>
        <p:spPr>
          <a:xfrm>
            <a:off x="2885771" y="616584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dirty="0"/>
              <a:t>Higher-priced houses are concentrated in specific locations, showing that </a:t>
            </a:r>
            <a:r>
              <a:rPr lang="en-US" sz="1200" b="1" dirty="0"/>
              <a:t>location (latitude &amp; longitude) strongly influences property prices</a:t>
            </a:r>
            <a:r>
              <a:rPr lang="en-US" sz="1200" dirty="0"/>
              <a:t>.</a:t>
            </a:r>
          </a:p>
        </p:txBody>
      </p:sp>
      <p:pic>
        <p:nvPicPr>
          <p:cNvPr id="4104" name="Picture 8">
            <a:extLst>
              <a:ext uri="{FF2B5EF4-FFF2-40B4-BE49-F238E27FC236}">
                <a16:creationId xmlns:a16="http://schemas.microsoft.com/office/drawing/2014/main" id="{C5218FD8-FFAF-9DF2-D105-F3197E286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370" y="4349333"/>
            <a:ext cx="5486400" cy="1816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3722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38486-4658-9E4E-DAEA-7824CA3E1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75438B-C676-C6BC-2303-7BC608D301EB}"/>
              </a:ext>
            </a:extLst>
          </p:cNvPr>
          <p:cNvSpPr txBox="1"/>
          <p:nvPr/>
        </p:nvSpPr>
        <p:spPr>
          <a:xfrm>
            <a:off x="884901" y="1648069"/>
            <a:ext cx="9822427" cy="3363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Removed irrelevant and negatively correlated features (id, Age) to improve model performance.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Defined independent variables (X) and target variable (y) for model training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Split the dataset into training (80%) and testing (20%) sets.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Used a fixed random state (123) to ensure reproducibility of results.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1337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242F5-2627-3C39-FBA8-AE68BCA76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82792"/>
          </a:xfrm>
        </p:spPr>
        <p:txBody>
          <a:bodyPr/>
          <a:lstStyle/>
          <a:p>
            <a:r>
              <a:rPr lang="en-IN" dirty="0"/>
              <a:t> </a:t>
            </a: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Selection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190A4-14A0-E90C-380C-0D01CA5F8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659628"/>
            <a:ext cx="8946541" cy="2115959"/>
          </a:xfrm>
        </p:spPr>
        <p:txBody>
          <a:bodyPr/>
          <a:lstStyle/>
          <a:p>
            <a:r>
              <a:rPr lang="en-IN" b="1" dirty="0"/>
              <a:t>Linear Regression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/>
              <a:t>        Simple baseline model (linear relationship) </a:t>
            </a:r>
          </a:p>
          <a:p>
            <a:r>
              <a:rPr lang="en-IN" b="1" dirty="0"/>
              <a:t>Random Forest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/>
              <a:t>       Handles complex patterns, gives better accuracy </a:t>
            </a:r>
          </a:p>
          <a:p>
            <a:endParaRPr lang="en-IN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34531C9-C438-AECF-758C-53E662A695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8472" y="3579376"/>
            <a:ext cx="5838825" cy="3091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0644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28E71-7099-9AF4-AEF5-4A7802F49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91BDCA7-09BE-1765-0594-18D0B0E5E2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558658"/>
              </p:ext>
            </p:extLst>
          </p:nvPr>
        </p:nvGraphicFramePr>
        <p:xfrm>
          <a:off x="646111" y="1641987"/>
          <a:ext cx="10346356" cy="21925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6589">
                  <a:extLst>
                    <a:ext uri="{9D8B030D-6E8A-4147-A177-3AD203B41FA5}">
                      <a16:colId xmlns:a16="http://schemas.microsoft.com/office/drawing/2014/main" val="328534148"/>
                    </a:ext>
                  </a:extLst>
                </a:gridCol>
                <a:gridCol w="2586589">
                  <a:extLst>
                    <a:ext uri="{9D8B030D-6E8A-4147-A177-3AD203B41FA5}">
                      <a16:colId xmlns:a16="http://schemas.microsoft.com/office/drawing/2014/main" val="2941117063"/>
                    </a:ext>
                  </a:extLst>
                </a:gridCol>
                <a:gridCol w="2586589">
                  <a:extLst>
                    <a:ext uri="{9D8B030D-6E8A-4147-A177-3AD203B41FA5}">
                      <a16:colId xmlns:a16="http://schemas.microsoft.com/office/drawing/2014/main" val="2431368651"/>
                    </a:ext>
                  </a:extLst>
                </a:gridCol>
                <a:gridCol w="2586589">
                  <a:extLst>
                    <a:ext uri="{9D8B030D-6E8A-4147-A177-3AD203B41FA5}">
                      <a16:colId xmlns:a16="http://schemas.microsoft.com/office/drawing/2014/main" val="1713258807"/>
                    </a:ext>
                  </a:extLst>
                </a:gridCol>
              </a:tblGrid>
              <a:tr h="738694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R²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183501"/>
                  </a:ext>
                </a:extLst>
              </a:tr>
              <a:tr h="726951">
                <a:tc>
                  <a:txBody>
                    <a:bodyPr/>
                    <a:lstStyle/>
                    <a:p>
                      <a:r>
                        <a:rPr lang="en-IN" dirty="0"/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79.84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100983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168708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0775862"/>
                  </a:ext>
                </a:extLst>
              </a:tr>
              <a:tr h="726951">
                <a:tc>
                  <a:txBody>
                    <a:bodyPr/>
                    <a:lstStyle/>
                    <a:p>
                      <a:r>
                        <a:rPr lang="en-IN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89.01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69583.99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124589.43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3566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2876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E092B-41ED-4B2D-1144-6E9B33FBD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156649" cy="95329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(Random Forest)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9E964-F797-DF15-6EE3-C16D61BBC3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164" y="1905434"/>
            <a:ext cx="8946541" cy="419548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Content:R² Score: 0.89 ✅</a:t>
            </a:r>
          </a:p>
          <a:p>
            <a:pPr>
              <a:lnSpc>
                <a:spcPct val="150000"/>
              </a:lnSpc>
            </a:pPr>
            <a:r>
              <a:rPr lang="en-US" dirty="0"/>
              <a:t>MAE (Mean Absolute Error): 69,583.99</a:t>
            </a:r>
          </a:p>
          <a:p>
            <a:pPr>
              <a:lnSpc>
                <a:spcPct val="150000"/>
              </a:lnSpc>
            </a:pPr>
            <a:r>
              <a:rPr lang="en-US" dirty="0"/>
              <a:t>RMSE (Root Mean Squared Error): 124,589.43</a:t>
            </a:r>
          </a:p>
          <a:p>
            <a:pPr>
              <a:lnSpc>
                <a:spcPct val="150000"/>
              </a:lnSpc>
            </a:pPr>
            <a:r>
              <a:rPr lang="en-US" b="1" dirty="0"/>
              <a:t>Insight (important line):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👉 The model explains 89% of the variance in house prices, indicating strong predictive performance.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497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C2455-638B-CFD9-B3C4-C235A6C10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4565513F-44A2-9583-D172-E0A5EB90F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11" y="1321056"/>
            <a:ext cx="5076263" cy="508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C71A0B4-5937-2114-DCA0-4E041C320FC0}"/>
              </a:ext>
            </a:extLst>
          </p:cNvPr>
          <p:cNvSpPr txBox="1"/>
          <p:nvPr/>
        </p:nvSpPr>
        <p:spPr>
          <a:xfrm>
            <a:off x="6096000" y="1710416"/>
            <a:ext cx="573220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Grade is the most influential factor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Zipcode (location) plays a major role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Total House Area significantly impacts price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Features like bathrooms &amp; view have lower impact</a:t>
            </a:r>
          </a:p>
        </p:txBody>
      </p:sp>
    </p:spTree>
    <p:extLst>
      <p:ext uri="{BB962C8B-B14F-4D97-AF65-F5344CB8AC3E}">
        <p14:creationId xmlns:p14="http://schemas.microsoft.com/office/powerpoint/2010/main" val="3423956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C8383-D2B0-B2D8-A41E-BD8B256FF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266202"/>
            <a:ext cx="9404723" cy="805811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76766-07B6-BFE7-18DA-B3E4F9309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096700"/>
            <a:ext cx="8946541" cy="271963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600" dirty="0"/>
              <a:t>Random Forest achieved the best performance 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Key drivers: </a:t>
            </a:r>
            <a:r>
              <a:rPr lang="en-US" sz="1600" b="1" dirty="0"/>
              <a:t>Grade, Location, Area</a:t>
            </a:r>
            <a:r>
              <a:rPr lang="en-US" sz="1600" dirty="0"/>
              <a:t> 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Model can help in: </a:t>
            </a:r>
          </a:p>
          <a:p>
            <a:pPr lvl="1">
              <a:lnSpc>
                <a:spcPct val="110000"/>
              </a:lnSpc>
            </a:pPr>
            <a:r>
              <a:rPr lang="en-US" sz="1600" dirty="0"/>
              <a:t>Property valuation </a:t>
            </a:r>
          </a:p>
          <a:p>
            <a:pPr lvl="1">
              <a:lnSpc>
                <a:spcPct val="110000"/>
              </a:lnSpc>
            </a:pPr>
            <a:r>
              <a:rPr lang="en-US" sz="1600" dirty="0"/>
              <a:t>Investment decisions </a:t>
            </a:r>
          </a:p>
          <a:p>
            <a:pPr lvl="1">
              <a:lnSpc>
                <a:spcPct val="110000"/>
              </a:lnSpc>
            </a:pPr>
            <a:r>
              <a:rPr lang="en-US" sz="1600" dirty="0"/>
              <a:t>Real estate pricing strategy 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A2D992-3470-34F1-18E5-3A6EF98BA590}"/>
              </a:ext>
            </a:extLst>
          </p:cNvPr>
          <p:cNvSpPr txBox="1"/>
          <p:nvPr/>
        </p:nvSpPr>
        <p:spPr>
          <a:xfrm>
            <a:off x="646111" y="3816330"/>
            <a:ext cx="733486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IN" sz="4200" b="1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Business Insights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6A4576-43CA-E4E1-A50D-BB8C28C08C5D}"/>
              </a:ext>
            </a:extLst>
          </p:cNvPr>
          <p:cNvSpPr txBox="1"/>
          <p:nvPr/>
        </p:nvSpPr>
        <p:spPr>
          <a:xfrm>
            <a:off x="1104293" y="4650260"/>
            <a:ext cx="8374004" cy="1538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IN" sz="1600" dirty="0">
                <a:latin typeface="+mj-lt"/>
                <a:ea typeface="+mj-ea"/>
                <a:cs typeface="+mj-cs"/>
              </a:rPr>
              <a:t>Houses with higher construction grade have significantly higher prices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IN" sz="1600" dirty="0">
                <a:latin typeface="+mj-lt"/>
                <a:ea typeface="+mj-ea"/>
                <a:cs typeface="+mj-cs"/>
              </a:rPr>
              <a:t>Location (</a:t>
            </a:r>
            <a:r>
              <a:rPr lang="en-IN" sz="1600" dirty="0" err="1">
                <a:latin typeface="+mj-lt"/>
                <a:ea typeface="+mj-ea"/>
                <a:cs typeface="+mj-cs"/>
              </a:rPr>
              <a:t>zipcode</a:t>
            </a:r>
            <a:r>
              <a:rPr lang="en-IN" sz="1600" dirty="0">
                <a:latin typeface="+mj-lt"/>
                <a:ea typeface="+mj-ea"/>
                <a:cs typeface="+mj-cs"/>
              </a:rPr>
              <a:t>) strongly influences property value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IN" sz="1600" dirty="0">
                <a:latin typeface="+mj-lt"/>
                <a:ea typeface="+mj-ea"/>
                <a:cs typeface="+mj-cs"/>
              </a:rPr>
              <a:t>Larger living area increases house price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IN" sz="1600" dirty="0">
                <a:latin typeface="+mj-lt"/>
                <a:ea typeface="+mj-ea"/>
                <a:cs typeface="+mj-cs"/>
              </a:rPr>
              <a:t>Waterfront properties add premium value</a:t>
            </a:r>
          </a:p>
        </p:txBody>
      </p:sp>
    </p:spTree>
    <p:extLst>
      <p:ext uri="{BB962C8B-B14F-4D97-AF65-F5344CB8AC3E}">
        <p14:creationId xmlns:p14="http://schemas.microsoft.com/office/powerpoint/2010/main" val="265024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00BCB3-8C9F-2AC8-9820-0F347CFA2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677" y="715296"/>
            <a:ext cx="11366646" cy="5803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7920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1268</TotalTime>
  <Words>676</Words>
  <Application>Microsoft Office PowerPoint</Application>
  <PresentationFormat>Widescreen</PresentationFormat>
  <Paragraphs>92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Century Gothic</vt:lpstr>
      <vt:lpstr>Times New Roman</vt:lpstr>
      <vt:lpstr>Wingdings 3</vt:lpstr>
      <vt:lpstr>Ion</vt:lpstr>
      <vt:lpstr>Real Estate Price Prediction</vt:lpstr>
      <vt:lpstr>Problem Statement</vt:lpstr>
      <vt:lpstr>Dataset Description</vt:lpstr>
      <vt:lpstr>Feature Engineering</vt:lpstr>
      <vt:lpstr>Exploratory Data Analysis</vt:lpstr>
      <vt:lpstr>Exploratory Data Analysis</vt:lpstr>
      <vt:lpstr>Data Preparation</vt:lpstr>
      <vt:lpstr> Model Selection </vt:lpstr>
      <vt:lpstr>Model Comparison</vt:lpstr>
      <vt:lpstr>Model Evaluation (Random Forest)</vt:lpstr>
      <vt:lpstr>Feature Importance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MANTHAN GAWADE</dc:creator>
  <cp:lastModifiedBy>MANTHAN GAWADE</cp:lastModifiedBy>
  <cp:revision>1</cp:revision>
  <dcterms:created xsi:type="dcterms:W3CDTF">2026-03-26T13:51:45Z</dcterms:created>
  <dcterms:modified xsi:type="dcterms:W3CDTF">2026-03-27T11:00:32Z</dcterms:modified>
</cp:coreProperties>
</file>